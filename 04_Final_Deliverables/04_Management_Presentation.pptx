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SUPPLY CHAIN</a:t>
            </a:r>
          </a:p>
          <a:p>
            <a:pPr>
              <a:defRPr sz="2900">
                <a:solidFill>
                  <a:srgbClr val="D2E1F0"/>
                </a:solidFill>
              </a:defRPr>
            </a:pPr>
            <a:r>
              <a:t>Cost Optimization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Management Consulting Case | Synthetic 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Executive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D32"/>
                </a:solidFill>
              </a:defRPr>
            </a:pPr>
            <a:r>
              <a:t>Build a transparent cost baseline before targeting savings.</a:t>
            </a:r>
          </a:p>
          <a:p>
            <a:pPr>
              <a:spcAft>
                <a:spcPts val="1200"/>
              </a:spcAft>
              <a:defRPr sz="1800">
                <a:solidFill>
                  <a:srgbClr val="282D32"/>
                </a:solidFill>
              </a:defRPr>
            </a:pPr>
            <a:r>
              <a:t>Focus first on procurement, freight and inventory value pools.</a:t>
            </a:r>
          </a:p>
          <a:p>
            <a:pPr>
              <a:spcAft>
                <a:spcPts val="1200"/>
              </a:spcAft>
              <a:defRPr sz="1800">
                <a:solidFill>
                  <a:srgbClr val="282D32"/>
                </a:solidFill>
              </a:defRPr>
            </a:pPr>
            <a:r>
              <a:t>Prioritize initiatives using impact, feasibility, speed and confidence—not theoretical savings alone.</a:t>
            </a:r>
          </a:p>
          <a:p>
            <a:pPr>
              <a:spcAft>
                <a:spcPts val="1200"/>
              </a:spcAft>
              <a:defRPr sz="1800">
                <a:solidFill>
                  <a:srgbClr val="282D32"/>
                </a:solidFill>
              </a:defRPr>
            </a:pPr>
            <a:r>
              <a:t>Validate savings through RFQs, freight tenders, inventory pilots and Finance sign-off.</a:t>
            </a:r>
          </a:p>
          <a:p>
            <a:pPr>
              <a:spcAft>
                <a:spcPts val="1200"/>
              </a:spcAft>
              <a:defRPr sz="1800">
                <a:solidFill>
                  <a:srgbClr val="282D32"/>
                </a:solidFill>
              </a:defRPr>
            </a:pPr>
            <a:r>
              <a:t>Use a 90-day launch program followed by a rolling 12-month savings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Cost baseline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508760"/>
          <a:ext cx="99669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320"/>
                <a:gridCol w="3322320"/>
                <a:gridCol w="3322320"/>
              </a:tblGrid>
              <a:tr h="77724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Cost pool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Illustrative baseline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Main driver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Procurement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₹1,083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Price × volume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Inbound freight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₹40 cr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Lane rate × shipments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Inventory carrying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₹88.8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Inventory × carrying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7240" y="493776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82D32"/>
                </a:solidFill>
              </a:defRPr>
            </a:pPr>
            <a:r>
              <a:t>All transaction-level values are synthetic case data.</a:t>
            </a:r>
          </a:p>
          <a:p>
            <a:pPr>
              <a:spcAft>
                <a:spcPts val="1200"/>
              </a:spcAft>
              <a:defRPr sz="1400">
                <a:solidFill>
                  <a:srgbClr val="282D32"/>
                </a:solidFill>
              </a:defRPr>
            </a:pPr>
            <a:r>
              <a:t>The purpose is to demonstrate the consulting cost-diagnostic methodology.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Savings portfolio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2014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350"/>
                <a:gridCol w="2800350"/>
                <a:gridCol w="2800350"/>
                <a:gridCol w="2800350"/>
              </a:tblGrid>
              <a:tr h="692331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Initiative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Gross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Net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Steel negotiation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₹18.0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₹2.0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₹16.0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Electronics sourcing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₹12.0 cr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₹4.0 cr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₹8.0 cr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Freight consolidation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₹8.0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₹1.0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₹7.0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Mode optimization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₹5.0 cr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₹1.5 cr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₹3.5 cr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Inventory parameters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₹10.0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₹2.0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₹8.0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Slow-moving inventory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₹6.0 cr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₹1.0 cr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D32"/>
                          </a:solidFill>
                        </a:defRPr>
                      </a:pPr>
                      <a:r>
                        <a:t>₹5.0 cr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Where to 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D32"/>
                </a:solidFill>
              </a:defRPr>
            </a:pPr>
            <a:r>
              <a:t>Procurement: benchmark prices, run competitive sourcing and consolidate volume where practical.</a:t>
            </a:r>
          </a:p>
          <a:p>
            <a:pPr>
              <a:spcAft>
                <a:spcPts val="1200"/>
              </a:spcAft>
              <a:defRPr sz="1800">
                <a:solidFill>
                  <a:srgbClr val="282D32"/>
                </a:solidFill>
              </a:defRPr>
            </a:pPr>
            <a:r>
              <a:t>Logistics: tender high-cost lanes, consolidate shipments and assess alternative modes.</a:t>
            </a:r>
          </a:p>
          <a:p>
            <a:pPr>
              <a:spcAft>
                <a:spcPts val="1200"/>
              </a:spcAft>
              <a:defRPr sz="1800">
                <a:solidFill>
                  <a:srgbClr val="282D32"/>
                </a:solidFill>
              </a:defRPr>
            </a:pPr>
            <a:r>
              <a:t>Inventory: reset safety stock/reorder parameters and reduce slow-moving stock.</a:t>
            </a:r>
          </a:p>
          <a:p>
            <a:pPr>
              <a:spcAft>
                <a:spcPts val="1200"/>
              </a:spcAft>
              <a:defRPr sz="1800">
                <a:solidFill>
                  <a:srgbClr val="282D32"/>
                </a:solidFill>
              </a:defRPr>
            </a:pPr>
            <a:r>
              <a:t>Governance: track realized savings monthly and protect service, quality and continuity.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90-day implementation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1732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804672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Priority actions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0–30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Validate baseline, benchmark prices, review lanes and inventory 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31–60 days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Run sourcing events, freight tender and inventory parameter redesign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61–90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Award suppliers/carriers, launch pilots and track realized benefits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3–12 months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Scale validated initiatives and build next-wave savings pipeline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Management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2D32"/>
                </a:solidFill>
              </a:defRPr>
            </a:pPr>
            <a:r>
              <a:t>The cost opportunity is best addressed as a coordinated procurement, logistics and inventory program.</a:t>
            </a:r>
          </a:p>
          <a:p>
            <a:pPr>
              <a:spcAft>
                <a:spcPts val="1200"/>
              </a:spcAft>
              <a:defRPr sz="1900">
                <a:solidFill>
                  <a:srgbClr val="282D32"/>
                </a:solidFill>
              </a:defRPr>
            </a:pPr>
            <a:r>
              <a:t>Start with high-confidence initiatives while validating larger or technically constrained opportunities.</a:t>
            </a:r>
          </a:p>
          <a:p>
            <a:pPr>
              <a:spcAft>
                <a:spcPts val="1200"/>
              </a:spcAft>
              <a:defRPr sz="1900">
                <a:solidFill>
                  <a:srgbClr val="282D32"/>
                </a:solidFill>
              </a:defRPr>
            </a:pPr>
            <a:r>
              <a:t>Savings should only be recognized when operationally realized and Finance-validated.</a:t>
            </a:r>
          </a:p>
          <a:p>
            <a:pPr>
              <a:spcAft>
                <a:spcPts val="1200"/>
              </a:spcAft>
              <a:defRPr sz="1900">
                <a:solidFill>
                  <a:srgbClr val="282D32"/>
                </a:solidFill>
              </a:defRPr>
            </a:pPr>
            <a:r>
              <a:t>A disciplined governance cadence can convert one-time initiatives into a repeatable cost-transformation capability.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